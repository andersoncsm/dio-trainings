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0" r:id="rId18"/>
    <p:sldId id="279" r:id="rId19"/>
    <p:sldId id="278" r:id="rId20"/>
    <p:sldId id="277" r:id="rId21"/>
    <p:sldId id="276" r:id="rId22"/>
    <p:sldId id="275" r:id="rId23"/>
    <p:sldId id="274" r:id="rId24"/>
    <p:sldId id="273" r:id="rId25"/>
    <p:sldId id="272" r:id="rId26"/>
    <p:sldId id="271" r:id="rId27"/>
    <p:sldId id="270" r:id="rId28"/>
    <p:sldId id="269" r:id="rId29"/>
    <p:sldId id="294" r:id="rId30"/>
    <p:sldId id="293" r:id="rId31"/>
    <p:sldId id="292" r:id="rId32"/>
    <p:sldId id="291" r:id="rId33"/>
    <p:sldId id="290" r:id="rId34"/>
    <p:sldId id="289" r:id="rId35"/>
    <p:sldId id="288" r:id="rId36"/>
    <p:sldId id="287" r:id="rId37"/>
    <p:sldId id="286" r:id="rId38"/>
    <p:sldId id="285" r:id="rId39"/>
    <p:sldId id="284" r:id="rId40"/>
    <p:sldId id="283" r:id="rId41"/>
    <p:sldId id="312" r:id="rId42"/>
    <p:sldId id="311" r:id="rId43"/>
    <p:sldId id="310" r:id="rId44"/>
    <p:sldId id="309" r:id="rId45"/>
    <p:sldId id="308" r:id="rId46"/>
    <p:sldId id="307" r:id="rId47"/>
    <p:sldId id="306" r:id="rId48"/>
    <p:sldId id="305" r:id="rId49"/>
    <p:sldId id="304" r:id="rId50"/>
    <p:sldId id="303" r:id="rId51"/>
    <p:sldId id="302" r:id="rId52"/>
    <p:sldId id="301" r:id="rId53"/>
    <p:sldId id="300" r:id="rId54"/>
    <p:sldId id="299" r:id="rId55"/>
    <p:sldId id="298" r:id="rId56"/>
    <p:sldId id="297" r:id="rId57"/>
    <p:sldId id="296" r:id="rId58"/>
    <p:sldId id="333" r:id="rId59"/>
    <p:sldId id="332" r:id="rId60"/>
    <p:sldId id="331" r:id="rId61"/>
    <p:sldId id="330" r:id="rId62"/>
    <p:sldId id="329" r:id="rId63"/>
    <p:sldId id="328" r:id="rId64"/>
    <p:sldId id="327" r:id="rId65"/>
    <p:sldId id="326" r:id="rId66"/>
    <p:sldId id="325" r:id="rId67"/>
    <p:sldId id="324" r:id="rId68"/>
    <p:sldId id="323" r:id="rId69"/>
    <p:sldId id="322" r:id="rId70"/>
    <p:sldId id="321" r:id="rId71"/>
    <p:sldId id="320" r:id="rId72"/>
    <p:sldId id="319" r:id="rId73"/>
    <p:sldId id="318" r:id="rId74"/>
    <p:sldId id="317" r:id="rId75"/>
    <p:sldId id="316" r:id="rId76"/>
    <p:sldId id="315" r:id="rId77"/>
    <p:sldId id="314" r:id="rId78"/>
    <p:sldId id="348" r:id="rId79"/>
    <p:sldId id="347" r:id="rId80"/>
    <p:sldId id="346" r:id="rId81"/>
    <p:sldId id="345" r:id="rId82"/>
    <p:sldId id="344" r:id="rId83"/>
    <p:sldId id="343" r:id="rId84"/>
    <p:sldId id="342" r:id="rId85"/>
    <p:sldId id="341" r:id="rId86"/>
    <p:sldId id="340" r:id="rId87"/>
    <p:sldId id="339" r:id="rId88"/>
    <p:sldId id="338" r:id="rId89"/>
    <p:sldId id="337" r:id="rId90"/>
    <p:sldId id="336" r:id="rId91"/>
    <p:sldId id="335" r:id="rId92"/>
    <p:sldId id="359" r:id="rId93"/>
    <p:sldId id="358" r:id="rId94"/>
    <p:sldId id="357" r:id="rId95"/>
    <p:sldId id="356" r:id="rId96"/>
    <p:sldId id="355" r:id="rId97"/>
    <p:sldId id="354" r:id="rId98"/>
    <p:sldId id="353" r:id="rId99"/>
    <p:sldId id="352" r:id="rId100"/>
    <p:sldId id="351" r:id="rId101"/>
    <p:sldId id="350" r:id="rId102"/>
    <p:sldId id="360" r:id="rId103"/>
    <p:sldId id="373" r:id="rId104"/>
    <p:sldId id="372" r:id="rId105"/>
    <p:sldId id="371" r:id="rId106"/>
    <p:sldId id="370" r:id="rId107"/>
    <p:sldId id="369" r:id="rId108"/>
    <p:sldId id="368" r:id="rId109"/>
    <p:sldId id="367" r:id="rId110"/>
    <p:sldId id="366" r:id="rId111"/>
    <p:sldId id="365" r:id="rId112"/>
    <p:sldId id="364" r:id="rId113"/>
    <p:sldId id="363" r:id="rId114"/>
    <p:sldId id="362" r:id="rId115"/>
    <p:sldId id="361" r:id="rId116"/>
    <p:sldId id="388" r:id="rId117"/>
    <p:sldId id="387" r:id="rId118"/>
    <p:sldId id="386" r:id="rId119"/>
    <p:sldId id="385" r:id="rId120"/>
    <p:sldId id="384" r:id="rId121"/>
    <p:sldId id="383" r:id="rId122"/>
    <p:sldId id="382" r:id="rId123"/>
    <p:sldId id="381" r:id="rId124"/>
    <p:sldId id="380" r:id="rId125"/>
    <p:sldId id="379" r:id="rId126"/>
    <p:sldId id="378" r:id="rId127"/>
    <p:sldId id="377" r:id="rId128"/>
    <p:sldId id="376" r:id="rId129"/>
    <p:sldId id="375" r:id="rId1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2"/>
      <p:bold r:id="rId133"/>
      <p:italic r:id="rId134"/>
      <p:boldItalic r:id="rId135"/>
    </p:embeddedFont>
    <p:embeddedFont>
      <p:font typeface="Consolas" panose="020B0609020204030204" pitchFamily="49" charset="0"/>
      <p:regular r:id="rId136"/>
      <p:bold r:id="rId137"/>
      <p:italic r:id="rId138"/>
      <p:boldItalic r:id="rId139"/>
    </p:embeddedFont>
    <p:embeddedFont>
      <p:font typeface="Fira Code" panose="020B0809050000020004" pitchFamily="49" charset="0"/>
      <p:regular r:id="rId140"/>
      <p:bold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52" roundtripDataSignature="AMtx7mgeSa4IaUnIHCRjYepDup7/qrf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F15C-A046-F06B-20FC-5E351C3D5C7A}" v="39" dt="2022-09-12T16:39:56.423"/>
    <p1510:client id="{6504F847-38BA-7D35-EE3A-03EECAC51765}" v="35" dt="2022-09-12T16:36:54.475"/>
    <p1510:client id="{68BAE8B4-A573-BBE2-81DA-6F3590BF9012}" v="22" dt="2022-09-12T16:45:02.494"/>
    <p1510:client id="{F2A20D8A-717B-613B-E927-3E9B507FDCC6}" v="40" dt="2022-09-12T16:42:2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font" Target="fonts/font7.fntdata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3.fntdata"/><Relationship Id="rId139" Type="http://schemas.openxmlformats.org/officeDocument/2006/relationships/font" Target="fonts/font8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4.fntdata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font" Target="fonts/font10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font" Target="fonts/font1.fntdata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font" Target="fonts/font2.fntdata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437fc7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7437fc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7437fc7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7437fc7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7437fc7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437fc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437fc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758748e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38758748e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87437fc7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87437fc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387437fc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fc1b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fc1b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875fc1b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875fc1b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875fc1bc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3875fc1bc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61043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61043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7610439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387610439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610439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87610439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8761043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38761043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7610439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87610439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87610439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387610439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87610439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387610439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8761043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8761043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b438a5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b438a5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438a51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438a51e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b438a51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b438a51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b438a51e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b438a51e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b438a51e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4b438a51e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b438a51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4b438a51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b438a51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b438a51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b438a51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4b438a51e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b4f4bbb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4b4f4bbb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2fec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2fec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b2fecb7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4b2fecb7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b2fecb7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4b2fecb7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d08c3c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d08c3c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d08c3c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d08c3c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8d08c3c7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8d08c3c7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d08c3c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d08c3c7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493fa1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02493fa1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2493f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502493f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02493fa1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502493fa1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02493fa1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502493fa1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 (POO)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o paradigma de programação orientada a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 de programação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437fc74_0_4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Beber água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1: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 copo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2: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uma garrafa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437fc74_0_4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437fc74_0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7437fc74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Imperativo ou procedural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Orientado a eventos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7437fc74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Alguns paradigmas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7437fc74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objetos.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3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387437fc74_0_3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387437fc74_0_3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387437fc74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31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utilizar classes e objetos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081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52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Conceito de classes e objetos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6529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7101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 programa com POO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11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 de classes e objetos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3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1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437fc74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g1387437fc7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188" y="833438"/>
            <a:ext cx="3857625" cy="347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19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3" name="Google Shape;113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latir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"Auau"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dormir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"Zzzzz..."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14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8758748e6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38758748e6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58748e6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1" name="Google Shape;121;g138758748e6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"amarelo"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"Aladim"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"branco e preto"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cao_1.latir()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cao_2.dormir()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82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437fc74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João tem uma bicicletaria e gostaria de registrar as vendas de suas bicicletas. Crie um programa onde João informe: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cor, modelo, ano e valor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bicicleta vendida. Uma bicicleta pode: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buzinar, parar e correr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Adicione esses comportamentos!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437fc74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 POO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g1387437fc74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7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87437fc74_0_2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387437fc74_0_2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387437fc74_0_2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87437fc74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sp>
        <p:nvSpPr>
          <p:cNvPr id="137" name="Google Shape;137;g1387437fc74_0_2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387437fc74_0_2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556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0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9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Construtores e destrutores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371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construtor e destrutor.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3569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837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05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os métodos __init__ e __del__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__init__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construtor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8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__init__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endParaRPr sz="1400" u="none" strike="noStrike" cap="non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8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fc1bcd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__del__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fc1bcd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destrutor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fc1bcd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5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875fc1bcd_0_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3875fc1bcd_0_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__del__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3875fc1bcd_0_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3875fc1bcd_0_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__del__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"Destruindo a instância"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= Cachorro()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93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875fc1bcd_0_1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3875fc1bcd_0_1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5fc1bcd_0_1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875fc1bcd_0_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5723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332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3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3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que é herança em POO e como podemos utilizá-la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0020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52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em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3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programação herança é a capacidade de uma classe filha derivar ou herdar as características e comportamentos da classe pai (base).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herança?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0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10439e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Representa bem os relacionamentos do mundo real.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*É de natureza transitiva, o que significa que, se a classe B herdar da classe A, todas as subclasses de B herdarão automaticamente da classe 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610439e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610439e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060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4" name="Google Shape;114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7610439e_0_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610439e_0_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387610439e_0_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387610439e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sp>
        <p:nvSpPr>
          <p:cNvPr id="123" name="Google Shape;123;g1387610439e_0_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387610439e_0_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02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87610439e_0_36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387610439e_0_36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387610439e_0_36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 e herança múltipla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g1387610439e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387610439e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8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87610439e_0_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apenas uma classe pai, ela é chamada de herança simples.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387610439e_0_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387610439e_0_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080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87610439e_0_6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387610439e_0_6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387610439e_0_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8" name="Google Shape;148;g1387610439e_0_6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4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87610439e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de várias classes pai, ela é chamada de herança múltipla.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387610439e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múltipla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1387610439e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3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610439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387610439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387610439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3" name="Google Shape;163;g1387610439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96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87610439e_0_2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387610439e_0_2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87610439e_0_2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87610439e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sp>
        <p:nvSpPr>
          <p:cNvPr id="172" name="Google Shape;172;g1387610439e_0_26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87610439e_0_26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9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88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08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Encapsulamento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34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encapsulamento e como podemos aplicá-lo utilizando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4657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0831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074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encapsulamento?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5836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b438a51e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107" name="Google Shape;107;g14b438a51e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100138"/>
            <a:ext cx="5029200" cy="294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208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438a51ec_0_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438a51ec_0_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438a51ec_0_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438a51ec_0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438a51ec_0_2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438a51ec_0_2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b438a51ec_0_29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4b438a51ec_0_29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625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públicos e privados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42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Modificadores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30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b438a51e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Público: Pode ser acessado de fora da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Privado: Só pode ser acessado pela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b438a51e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b438a51e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4051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b438a51ec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438a51ec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Público/Privado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b438a51ec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9795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7" name="Google Shape;15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saldo=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self._saldo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saldo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depositar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sacar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6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b438a51ec_0_5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14b438a51ec_0_5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4b438a51ec_0_5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b438a51ec_0_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sp>
        <p:nvSpPr>
          <p:cNvPr id="166" name="Google Shape;166;g14b438a51ec_0_58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4b438a51ec_0_58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b438a51ec_0_58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b438a51ec_0_58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21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b438a51ec_0_20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4b438a51ec_0_20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14b438a51ec_0_20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Properties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14b438a51ec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4b438a51ec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16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b438a51ec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4b438a51ec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servem?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g14b438a51ec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710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b438a51e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4b438a51e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14b438a51e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3" name="Google Shape;193;g14b438a51ec_0_84"/>
          <p:cNvGraphicFramePr/>
          <p:nvPr/>
        </p:nvGraphicFramePr>
        <p:xfrm>
          <a:off x="566928" y="1481328"/>
          <a:ext cx="8019300" cy="3485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x=None):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@property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@x.setter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value):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_x =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_value = value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_x + _value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@x.deleter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= Foo(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foo.x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foo.x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endParaRPr sz="8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68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b4f4bbbb0_1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14b4f4bbbb0_1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b4f4bbbb0_1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b4f4bbbb0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sp>
        <p:nvSpPr>
          <p:cNvPr id="202" name="Google Shape;202;g14b4f4bbbb0_1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b4f4bbbb0_1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4b4f4bbbb0_1_0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b4f4bbbb0_1_0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4543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2021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37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72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criar classes polimórficas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459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0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6205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953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formas!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27547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761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2fecb707_0_11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2fecb707_0_11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2fecb707_0_11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2fecb707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2fecb707_0_11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2fecb707_0_11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680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 com herança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293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Mesmo método com comportamento diferente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947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b2fecb707_0_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4b2fecb707_0_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4b2fecb707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1" name="Google Shape;141;g14b2fecb707_0_1"/>
          <p:cNvGraphicFramePr/>
          <p:nvPr/>
        </p:nvGraphicFramePr>
        <p:xfrm>
          <a:off x="566928" y="1481328"/>
          <a:ext cx="8019300" cy="3482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Passaro: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Pardal(Passaro):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"Pardal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Avestruz(Passaro):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"Avestruz não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passaro.voar()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plano_de_voo(Pardal())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plano_de_voo(Avestruz())</a:t>
                      </a:r>
                      <a:endParaRPr sz="12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705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b2fecb707_0_22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4b2fecb707_0_22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2fecb707_0_22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14b2fecb707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sp>
        <p:nvSpPr>
          <p:cNvPr id="150" name="Google Shape;150;g14b2fecb707_0_22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14b2fecb707_0_22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4786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077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14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Variáveis de classe e variáveis de instância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282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variáveis de classe e variáveis de instância.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32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85515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88010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1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 do 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0127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Estudante: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escola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"DIO"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self.numero = numero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__str__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{self.nome}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{self.numero}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{self.escola}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gui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56451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17323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6766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8839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58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62C9-A6BB-AB8C-7F3F-68FEA793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B2E6F-EAA8-697A-9E88-6B3182BB1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79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classe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métodos estáticos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52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classe 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métodos estáticos.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6965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719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7253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391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038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d08c3c7b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d08c3c7b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d08c3c7b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167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d08c3c7b_0_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recebe um primeiro parâmetro que aponta para a classe, enquanto um método estático não.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pode acessar ou modificar o estado da classe enquanto um método estático não pode acessá-lo ou modificá-lo.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d08c3c7b_0_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 x 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d08c3c7b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581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d08c3c7b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o método de classe para criar métodos de fábrica.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métodos estáticos para criar funções utilitárias.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38d08c3c7b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Quanto utilizar método de classe ou estático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38d08c3c7b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37456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d08c3c7b_0_19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38d08c3c7b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8d08c3c7b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sp>
        <p:nvSpPr>
          <p:cNvPr id="126" name="Google Shape;126;g138d08c3c7b_0_19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4600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2025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08696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772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abstratas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05620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conceito de contrato e como podemos utilizar classes abstratas em Python para implementá-los.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96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57423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interfaces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14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interfaces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872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 definem o que uma classe deve fazer e não como.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Importante!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1993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02493fa1d_0_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502493fa1d_0_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tem interface?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502493fa1d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0351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02493fa1d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502493fa1d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502493fa1d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502493fa1d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sp>
        <p:nvSpPr>
          <p:cNvPr id="115" name="Google Shape;115;g1502493fa1d_0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502493fa1d_0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0578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classes abstratas com o módulo abc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854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@abstractmethod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ABC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6937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02493fa1d_0_34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g1502493fa1d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502493fa1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sp>
        <p:nvSpPr>
          <p:cNvPr id="140" name="Google Shape;140;g1502493fa1d_0_34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046295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02493fa1d_0_8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1502493fa1d_0_8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502493fa1d_0_8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502493fa1d_0_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sp>
        <p:nvSpPr>
          <p:cNvPr id="149" name="Google Shape;149;g1502493fa1d_0_8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502493fa1d_0_8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703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strike="noStrike" cap="none"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https://docs.python.org/pt-br/3/library/abc.html</a:t>
            </a:r>
            <a:endParaRPr sz="24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1210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724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126</Slides>
  <Notes>125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126</vt:i4>
      </vt:variant>
    </vt:vector>
  </HeadingPairs>
  <TitlesOfParts>
    <vt:vector size="12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2</cp:revision>
  <dcterms:modified xsi:type="dcterms:W3CDTF">2024-06-13T21:18:31Z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