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3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39"/>
      <p:bold r:id="rId40"/>
      <p:italic r:id="rId41"/>
      <p:boldItalic r:id="rId42"/>
    </p:embeddedFont>
    <p:embeddedFont>
      <p:font typeface="Consolas" panose="020B0609020204030204" pitchFamily="49" charset="0"/>
      <p:regular r:id="rId43"/>
      <p:bold r:id="rId44"/>
      <p:italic r:id="rId45"/>
      <p:boldItalic r:id="rId46"/>
    </p:embeddedFont>
    <p:embeddedFont>
      <p:font typeface="Fira Code" panose="020B0809050000020004" pitchFamily="49" charset="0"/>
      <p:regular r:id="rId47"/>
      <p:bold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9" roundtripDataSignature="AMtx7mi+9UlrGbsIthoEv49TMZjqNHTd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1172194-7F43-44AE-B810-243A329BEF07}">
  <a:tblStyle styleId="{D1172194-7F43-44AE-B810-243A329BEF0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1.fntdata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6.fntdata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5.fntdata"/><Relationship Id="rId48" Type="http://schemas.openxmlformats.org/officeDocument/2006/relationships/font" Target="fonts/font10.fntdata"/><Relationship Id="rId8" Type="http://schemas.openxmlformats.org/officeDocument/2006/relationships/slide" Target="slides/slide4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20" Type="http://schemas.openxmlformats.org/officeDocument/2006/relationships/slide" Target="slides/slide16.xml"/><Relationship Id="rId41" Type="http://schemas.openxmlformats.org/officeDocument/2006/relationships/font" Target="fonts/font3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463f458978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g1463f458978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463f458978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1463f458978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463f458978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463f458978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463f458978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g1463f458978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463f458978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g1463f458978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463f458978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1463f458978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463f458978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1463f458978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463f458978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1463f458978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463f458978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g1463f458978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463f458978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g1463f458978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463f458978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g1463f458978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463f458978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g1463f458978_0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463f458978_0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1463f458978_0_2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463f458978_0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g1463f458978_0_2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1463f458978_0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2" name="Google Shape;202;g1463f458978_0_2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463f458978_0_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1" name="Google Shape;211;g1463f458978_0_2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463f458978_0_2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g1463f458978_0_2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todos os elementos de a estão presentes em b?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463f458978_0_2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1463f458978_0_2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todos os elementos de b estão presentes em a?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463f458978_0_2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g1463f458978_0_2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conjuntos disjuntos ocorrem quando não existe intersecção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1463f458978_0_3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7" name="Google Shape;247;g1463f458978_0_3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1463f458978_0_3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g1463f458978_0_3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1463f458978_0_3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" name="Google Shape;263;g1463f458978_0_3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1463f458978_0_3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1" name="Google Shape;271;g1463f458978_0_3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463f458978_0_3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9" name="Google Shape;279;g1463f458978_0_3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463f458978_0_3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7" name="Google Shape;287;g1463f458978_0_3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1463f458978_0_3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5" name="Google Shape;295;g1463f458978_0_3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1463f458978_0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3" name="Google Shape;303;g1463f458978_0_3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1" name="Google Shape;311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" name="Google Shape;31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109ffa863cd_0_2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g109ffa863cd_0_26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109ffa863cd_0_28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09ffa863cd_0_24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g109ffa863cd_0_24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" name="Google Shape;20;g109ffa863cd_0_2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109ffa863cd_0_24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g109ffa863cd_0_2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109ffa863cd_0_2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109ffa863cd_0_2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g109ffa863cd_0_2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09ffa863cd_0_2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109ffa863cd_0_2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g109ffa863cd_0_25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g109ffa863cd_0_2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09ffa863cd_0_26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g109ffa863cd_0_26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g109ffa863cd_0_26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109ffa863cd_0_26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g109ffa863cd_0_2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09ffa863cd_0_27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09ffa863cd_0_27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g109ffa863cd_0_27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g109ffa863cd_0_27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g109ffa863cd_0_27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09ffa863cd_0_27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g109ffa863cd_0_27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09ffa863cd_0_27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g109ffa863cd_0_27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g109ffa863cd_0_27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09ffa863cd_0_2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109ffa863cd_0_2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g109ffa863cd_0_240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127425" y="119987"/>
            <a:ext cx="851525" cy="3314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g109ffa863cd_0_2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Conjuntos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lvl="1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Entender o funcionamento da estrutura de dados set.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Python 3 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VSCode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</a:t>
            </a:fld>
            <a:r>
              <a:rPr lang="en-US"/>
              <a:t>]</a:t>
            </a:r>
            <a:endParaRPr/>
          </a:p>
        </p:txBody>
      </p:sp>
      <p:sp>
        <p:nvSpPr>
          <p:cNvPr id="80" name="Google Shape;80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Como criar conjuntos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6927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22769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 da classe set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463f458978_0_4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g1463f458978_0_4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" name="Google Shape;90;g1463f458978_0_4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Como criar conjuntos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1" name="Google Shape;91;g1463f458978_0_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g1463f458978_0_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463f458978_0_1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Um set é uma coleção que não possui objetos repetidos, usamos sets para representar conjuntos matemáticos ou eliminar itens duplicados de um iterável.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1463f458978_0_1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Criando sets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g1463f458978_0_1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463f458978_0_1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1463f458978_0_1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6" name="Google Shape;106;g1463f458978_0_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07" name="Google Shape;107;g1463f458978_0_18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{D1172194-7F43-44AE-B810-243A329BEF07}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set([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{1, 2, 3, 4}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"abacaxi"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{"b", "a", "c", "x", "i"}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set((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"gol"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"celta"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{"gol", "celta", "palio"}</a:t>
                      </a:r>
                      <a:endParaRPr>
                        <a:solidFill>
                          <a:srgbClr val="F8F8F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463f458978_0_2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Conjuntos em Python não suportam indexação e nem fatiamento, caso queira acessar os seus valores é necessário converter o conjunto para lista.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1463f458978_0_2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Acessando os dados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4" name="Google Shape;114;g1463f458978_0_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463f458978_0_31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1463f458978_0_31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1" name="Google Shape;121;g1463f458978_0_3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22" name="Google Shape;122;g1463f458978_0_31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{D1172194-7F43-44AE-B810-243A329BEF07}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= list(numeros)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463f458978_0_77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 forma mais comum para percorrer os dados de um conjunto é utilizando o comando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1463f458978_0_77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Iterar conjuntos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9" name="Google Shape;129;g1463f458978_0_7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463f458978_0_83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1463f458978_0_83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6" name="Google Shape;136;g1463f458978_0_8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37" name="Google Shape;137;g1463f458978_0_83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{D1172194-7F43-44AE-B810-243A329BEF07}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carros =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"gol"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"celta"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carro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carros: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print(carro)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463f458978_0_9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Às vezes é necessário saber qual o índice do objeto dentro do laço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 Para isso podemos usar a função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enumerate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1463f458978_0_9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Função enumerate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4" name="Google Shape;144;g1463f458978_0_9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463f458978_0_9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1463f458978_0_9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1" name="Google Shape;151;g1463f458978_0_9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13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52" name="Google Shape;152;g1463f458978_0_9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{D1172194-7F43-44AE-B810-243A329BEF07}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carros =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"gol"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"celta"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indice, carro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enumerate(carros):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{indice}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{carro}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463f458978_0_103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8" name="Google Shape;158;g1463f458978_0_10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14</a:t>
            </a:fld>
            <a:r>
              <a:rPr lang="en-US"/>
              <a:t>]</a:t>
            </a:r>
            <a:endParaRPr/>
          </a:p>
        </p:txBody>
      </p:sp>
      <p:sp>
        <p:nvSpPr>
          <p:cNvPr id="159" name="Google Shape;159;g1463f458978_0_103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1463f458978_0_103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Criação e acesso aos dados</a:t>
            </a:r>
            <a:endParaRPr sz="2400" i="0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1463f458978_0_103"/>
          <p:cNvSpPr txBox="1"/>
          <p:nvPr/>
        </p:nvSpPr>
        <p:spPr>
          <a:xfrm>
            <a:off x="6927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g1463f458978_0_103"/>
          <p:cNvSpPr/>
          <p:nvPr/>
        </p:nvSpPr>
        <p:spPr>
          <a:xfrm>
            <a:off x="22769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 da classe set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463f458978_0_112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1463f458978_0_112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</a:t>
            </a:r>
            <a:r>
              <a:rPr lang="en-US" sz="24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9" name="Google Shape;169;g1463f458978_0_112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 da classe set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70" name="Google Shape;170;g1463f458978_0_1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g1463f458978_0_11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15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463f458978_0_168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7" name="Google Shape;177;g1463f458978_0_16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16</a:t>
            </a:fld>
            <a:r>
              <a:rPr lang="en-US"/>
              <a:t>]</a:t>
            </a:r>
            <a:endParaRPr/>
          </a:p>
        </p:txBody>
      </p:sp>
      <p:sp>
        <p:nvSpPr>
          <p:cNvPr id="178" name="Google Shape;178;g1463f458978_0_168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1463f458978_0_168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Criação e acesso aos dados</a:t>
            </a:r>
            <a:endParaRPr sz="2400" i="0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1463f458978_0_168"/>
          <p:cNvSpPr txBox="1"/>
          <p:nvPr/>
        </p:nvSpPr>
        <p:spPr>
          <a:xfrm>
            <a:off x="6927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strike="sng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1463f458978_0_168"/>
          <p:cNvSpPr/>
          <p:nvPr/>
        </p:nvSpPr>
        <p:spPr>
          <a:xfrm>
            <a:off x="22769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 da classe set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463f458978_0_233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g1463f458978_0_233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{}.union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8" name="Google Shape;188;g1463f458978_0_23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89" name="Google Shape;189;g1463f458978_0_233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{D1172194-7F43-44AE-B810-243A329BEF07}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conjunto_a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conjunto_b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conjunto_a.union(conjunto_b)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{1, 2, 3, 4}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90" name="Google Shape;190;g1463f458978_0_2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1225" y="1876425"/>
            <a:ext cx="1905000" cy="139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463f458978_0_24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g1463f458978_0_24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{}.intersection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7" name="Google Shape;197;g1463f458978_0_2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18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98" name="Google Shape;198;g1463f458978_0_240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{D1172194-7F43-44AE-B810-243A329BEF07}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conjunto_a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conjunto_b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conjunto_a.intersection(conjunto_b)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{2, 3}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99" name="Google Shape;199;g1463f458978_0_2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1225" y="1876425"/>
            <a:ext cx="1905000" cy="139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463f458978_0_247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1463f458978_0_247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{}.difference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6" name="Google Shape;206;g1463f458978_0_24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19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07" name="Google Shape;207;g1463f458978_0_247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{D1172194-7F43-44AE-B810-243A329BEF07}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conjunto_a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conjunto_b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conjunto_a.difference(conjunto_b)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{1}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conjunto_b.difference(conjunto_a)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{4}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08" name="Google Shape;208;g1463f458978_0_2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5450" y="1876425"/>
            <a:ext cx="1905000" cy="139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1463f458978_0_254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1463f458978_0_254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{}.symmetric_difference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5" name="Google Shape;215;g1463f458978_0_25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20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16" name="Google Shape;216;g1463f458978_0_254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{D1172194-7F43-44AE-B810-243A329BEF07}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conjunto_a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conjunto_b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conjunto_a.symmetric_difference(conjunto_b)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{1, 4}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17" name="Google Shape;217;g1463f458978_0_2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5450" y="1876425"/>
            <a:ext cx="1905000" cy="139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463f458978_0_26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g1463f458978_0_26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{}.issubset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4" name="Google Shape;224;g1463f458978_0_26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25" name="Google Shape;225;g1463f458978_0_26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{D1172194-7F43-44AE-B810-243A329BEF07}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conjunto_a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conjunto_b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conjunto_a.issubset(conjunto_b)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True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conjunto_b.issubset(conjunto_a)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False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26" name="Google Shape;226;g1463f458978_0_2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5700" y="1770309"/>
            <a:ext cx="2404324" cy="16028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463f458978_0_273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1463f458978_0_273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{}.issuperset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" name="Google Shape;233;g1463f458978_0_27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22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34" name="Google Shape;234;g1463f458978_0_273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{D1172194-7F43-44AE-B810-243A329BEF07}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conjunto_a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conjunto_b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conjunto_a.issuperset(conjunto_b)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False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conjunto_b.issuperset(conjunto_a)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True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35" name="Google Shape;235;g1463f458978_0_2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5700" y="1770309"/>
            <a:ext cx="2404324" cy="16028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1463f458978_0_28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g1463f458978_0_28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{}.isdisjoint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2" name="Google Shape;242;g1463f458978_0_28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23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43" name="Google Shape;243;g1463f458978_0_280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{D1172194-7F43-44AE-B810-243A329BEF07}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conjunto_a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conjunto_b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conjunto_c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conjunto_a.isdisjoint(conjunto_b)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True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conjunto_a.isdisjoint(conjunto_c)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False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44" name="Google Shape;244;g1463f458978_0_2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2975" y="1771650"/>
            <a:ext cx="2404872" cy="16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463f458978_0_30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g1463f458978_0_30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{}.add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1" name="Google Shape;251;g1463f458978_0_30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24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52" name="Google Shape;252;g1463f458978_0_302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{D1172194-7F43-44AE-B810-243A329BEF07}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sorteio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sorteio.add(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{1, 23, 25}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sorteio.add(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{1, 23, 25, 42}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sorteio.add(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{1, 23, 25, 42}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463f458978_0_31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g1463f458978_0_31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{}.clear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9" name="Google Shape;259;g1463f458978_0_31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25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60" name="Google Shape;260;g1463f458978_0_310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{D1172194-7F43-44AE-B810-243A329BEF07}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sorteio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sorteio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{1,23}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sorteio.clear()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sorteio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{}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1463f458978_0_317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g1463f458978_0_317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{}.copy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7" name="Google Shape;267;g1463f458978_0_3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26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68" name="Google Shape;268;g1463f458978_0_317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{D1172194-7F43-44AE-B810-243A329BEF07}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sorteio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sorteio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{1, 23}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sorteio.copy()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sorteio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{1, 23}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463f458978_0_324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g1463f458978_0_324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{}.discard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5" name="Google Shape;275;g1463f458978_0_3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76" name="Google Shape;276;g1463f458978_0_324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{D1172194-7F43-44AE-B810-243A329BEF07}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{1, 2, 3, 4, 5, 6, 7, 8, 9, 0}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numeros.discard(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numeros.discard(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{2, 3, 4, 5, 6, 7, 8, 9, 0}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1463f458978_0_331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g1463f458978_0_331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{}.pop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3" name="Google Shape;283;g1463f458978_0_33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28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84" name="Google Shape;284;g1463f458978_0_331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{D1172194-7F43-44AE-B810-243A329BEF07}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{0, 1, 2, 3, 4, 5, 6, 7, 8, 9}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numeros.pop()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0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numeros.pop()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1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{2, 3, 4, 5, 6, 7, 8, 9}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1463f458978_0_33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g1463f458978_0_33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{}.remove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1" name="Google Shape;291;g1463f458978_0_33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29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92" name="Google Shape;292;g1463f458978_0_338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{D1172194-7F43-44AE-B810-243A329BEF07}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{0, 1, 2, 3, 4, 5, 6, 7, 8, 9}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numeros.remove(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0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{1, 2, 3, 4, 5, 6, 7, 8, 9}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1463f458978_0_34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g1463f458978_0_34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len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9" name="Google Shape;299;g1463f458978_0_34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30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300" name="Google Shape;300;g1463f458978_0_345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{D1172194-7F43-44AE-B810-243A329BEF07}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len(numeros)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10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463f458978_0_35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g1463f458978_0_35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7" name="Google Shape;307;g1463f458978_0_35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308" name="Google Shape;308;g1463f458978_0_352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{D1172194-7F43-44AE-B810-243A329BEF07}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numeros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True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numeros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False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5" name="Google Shape;315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32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22" name="Google Shape;322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33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E48B58A68BE64E9120D347E3E06B3A" ma:contentTypeVersion="15" ma:contentTypeDescription="Crie um novo documento." ma:contentTypeScope="" ma:versionID="b5045d34f54d00713f1d3c8a948584d5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393f5ed8fbc70cc4225b4f59a31ebb55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Marcações de imagem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4E62F2B-F8EB-4B91-859D-E77ACA401F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1b35d3-0456-4d6a-bc2f-da927e91d158"/>
    <ds:schemaRef ds:uri="19483571-f922-4e8e-9c1c-26f0a22521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CB9E472-FC1C-42F4-9B7C-ACDD0775966A}">
  <ds:schemaRefs>
    <ds:schemaRef ds:uri="http://schemas.microsoft.com/office/2006/metadata/properties"/>
    <ds:schemaRef ds:uri="http://schemas.microsoft.com/office/infopath/2007/PartnerControls"/>
    <ds:schemaRef ds:uri="851b35d3-0456-4d6a-bc2f-da927e91d158"/>
    <ds:schemaRef ds:uri="19483571-f922-4e8e-9c1c-26f0a2252132"/>
  </ds:schemaRefs>
</ds:datastoreItem>
</file>

<file path=customXml/itemProps3.xml><?xml version="1.0" encoding="utf-8"?>
<ds:datastoreItem xmlns:ds="http://schemas.openxmlformats.org/officeDocument/2006/customXml" ds:itemID="{52B94DB9-7B51-480A-A703-310EEF0C37B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Apresentação na tela (16:9)</PresentationFormat>
  <Slides>33</Slides>
  <Notes>33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33</vt:i4>
      </vt:variant>
    </vt:vector>
  </HeadingPairs>
  <TitlesOfParts>
    <vt:vector size="34" baseType="lpstr"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Larissa Mestieri</dc:creator>
  <cp:revision>1</cp:revision>
  <dcterms:modified xsi:type="dcterms:W3CDTF">2024-06-12T19:13:59Z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</Properties>
</file>