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1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4"/>
      <p:bold r:id="rId135"/>
      <p:italic r:id="rId136"/>
      <p:boldItalic r:id="rId1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26" y="3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presProps" Target="presProps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1.fntdata"/><Relationship Id="rId139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2.fntdata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font" Target="fonts/font3.fntdata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notesMaster" Target="notesMasters/notesMaster1.xml"/><Relationship Id="rId16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Liste aqui os pré-requisitos para o tema, desde configurações do ambiente até as noções básicas necessárias para uma melhor assimilação do conteúdo.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Sumarize aqui os conteúdos/assuntos que serão abordados durante o curso. Caso o seu curso tenha poucas vídeoaulas, no máximo 06, pode listá-las e então comente tecnicamente o conteúdo que será abordado. Caso o seu curso possua mais de 6 vídeoaulas,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5c3c102f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5c3c102f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Sumarize aqui os conteúdos/assuntos que serão abordados durante o curso. Caso o seu curso tenha poucas vídeoaulas, no máximo 06, pode listá-las e então comente tecnicamente o conteúdo que será abordado. Caso o seu curso possua mais de 6 vídeoaulas,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a825d21a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20a825d21a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a825d21a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0a825d21a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0a825d21ad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0a825d21ad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a825d21a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20a825d21a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e45c2fcbd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e45c2fcbd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64a4c84b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64a4c84b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64a4c84b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64a4c84b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45d81c95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e45d81c95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e45d81c95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1e45d81c95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64a4c84b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564a4c84b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4870b14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e4870b14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6cef8bc2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256cef8bc2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6cef8bc2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256cef8bc2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6cef8bc2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56cef8bc2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6cef8bc2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56cef8bc2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6cef8bc2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56cef8bc2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6cef8bc21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56cef8bc21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6cef8bc21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256cef8bc21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6cef8bc2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256cef8bc2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6cef8bc2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56cef8bc2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6d44075d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6d44075d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6d44075d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6d44075d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6cef8bc2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56cef8bc2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6d44075d1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56d44075d1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70637374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570637374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6d44075d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56d44075d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Exemplo de slide de transição para uma parte prática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7063737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257063737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570637374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2570637374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70637374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2570637374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70637374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570637374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70637374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570637374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570637374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570637374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70637374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2570637374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7063737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257063737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70637374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570637374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70637374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70637374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70637374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70637374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70637374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570637374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70637374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570637374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70637374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570637374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78db191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578db191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5716d77d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25716d77d9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716d77d9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25716d77d9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716d77d9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5716d77d9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716d77d9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25716d77d9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6d44075d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56d44075d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Exemplo de slide de transição para uma parte prática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716d77d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716d77d9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473528cf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e473528cf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73528cf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e473528cf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8d4b5bf2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8d4b5bf2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d4b5bf2c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8d4b5bf2c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716d77d9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5716d77d9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47bee9be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e47bee9be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a825d21a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0a825d21a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47bee9be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e47bee9be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7bee9be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e47bee9be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47bee9b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e47bee9b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e47bee9be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e47bee9be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e47bee9be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1e47bee9be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e47bee9be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1e47bee9be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e47bee9be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1e47bee9be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e47bee9be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1e47bee9be1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47bee9be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1e47bee9be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6d44075d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256d44075d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482c76e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e482c76e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482c76e4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e482c76e4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482c76e4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e482c76e4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82c76e4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e482c76e4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482c76e4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e482c76e4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5d81c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e45d81c95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480ea7c2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e480ea7c2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480ea7c2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e480ea7c2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480ea7c2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e480ea7c2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82c76e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e482c76e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482c76e4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e482c76e4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i="1"/>
              <a:t>Adicione aqui links úteis como o Repositório no GitHub, Documentação Oficial, Referências e materiais complementares.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67"/>
              <a:buFont typeface="Calibri"/>
              <a:buNone/>
              <a:defRPr sz="10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  <a:defRPr sz="4267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67"/>
              <a:buFont typeface="Calibri"/>
              <a:buNone/>
              <a:defRPr sz="10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 sz="4267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3556"/>
              <a:buNone/>
              <a:defRPr sz="3556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44"/>
              <a:buNone/>
              <a:defRPr sz="2844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  <a:defRPr sz="4267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  <a:defRPr sz="4267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None/>
              <a:defRPr sz="3556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89"/>
              <a:buFont typeface="Calibri"/>
              <a:buNone/>
              <a:defRPr sz="56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985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89"/>
              <a:buChar char="•"/>
              <a:defRPr sz="5689"/>
            </a:lvl1pPr>
            <a:lvl2pPr marL="914400" lvl="1" indent="-54470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978"/>
              <a:buChar char="•"/>
              <a:defRPr sz="4978"/>
            </a:lvl2pPr>
            <a:lvl3pPr marL="1371600" lvl="2" indent="-49955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3pPr>
            <a:lvl4pPr marL="1828800" lvl="3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4pPr>
            <a:lvl5pPr marL="2286000" lvl="4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5pPr>
            <a:lvl6pPr marL="2743200" lvl="5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6pPr>
            <a:lvl7pPr marL="3200400" lvl="6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7pPr>
            <a:lvl8pPr marL="3657600" lvl="7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8pPr>
            <a:lvl9pPr marL="4114800" lvl="8" indent="-45440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89"/>
              <a:buNone/>
              <a:defRPr sz="2489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89"/>
              <a:buFont typeface="Calibri"/>
              <a:buNone/>
              <a:defRPr sz="56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44"/>
              <a:buNone/>
              <a:defRPr sz="2844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89"/>
              <a:buNone/>
              <a:defRPr sz="2489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cidchart.com/pages/pt/o-que-e-diagrama-entidade-relacionamento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lients.cloudclusters.io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data-types/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mariadb.com/kb/en/create-table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data-types/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mariadb.com/kb/en/create-table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data-types/" TargetMode="Externa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mariadb.com/kb/en/create-table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Normaliza%C3%A7%C3%A3o_de_dados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Normaliza%C3%A7%C3%A3o_de_dados" TargetMode="Externa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adb.com/kb/en/aggregate-functions/" TargetMode="External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dio.me/articles%E2%80%8B" TargetMode="External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Pâmela Apolinário Borges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Engenheira de Software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pamelaapborges - Linkedin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 a Banco de Dados Relacionais</a:t>
            </a:r>
            <a:endParaRPr/>
          </a:p>
        </p:txBody>
      </p:sp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5525" y="1760678"/>
            <a:ext cx="7984500" cy="26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objetivo geral do curso é fornecer uma introdução aos Bancos de Dados Relacionais e desenvolver habilidades na criação, modelagem e consulta desses bancos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1599663"/>
            <a:ext cx="7984551" cy="219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191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Noto Sans Symbols"/>
              <a:buChar char="✔"/>
            </a:pPr>
            <a:r>
              <a:rPr lang="en-US" sz="28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Computador com acesso a internet</a:t>
            </a:r>
            <a:endParaRPr sz="28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19100" marR="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800"/>
              <a:buFont typeface="Calibri"/>
              <a:buChar char="✔"/>
            </a:pPr>
            <a:r>
              <a:rPr lang="en-US" sz="28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Vontade de aprender </a:t>
            </a:r>
            <a:endParaRPr sz="28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191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 Programático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 e conceitos básicos de SQL.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Modelagem de tabelas, colunas e registros com operações CRUD.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Chaves primárias e estrangeiras com modelagem de tabelas relacionadas.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 Programático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69818" y="1477555"/>
            <a:ext cx="7867200" cy="3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Normalização de dados, identificando e corrigindo problemas de normalização.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Consultas avançadas com junções e subconsultas.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agregadas e agrupamento de resultados com GROUP BY e HAVING.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❑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Uso de índices para otimização de consultas.</a:t>
            </a:r>
            <a:endParaRPr sz="2400" b="1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Conceitos Básico e Estrutura do Banco de dados Relacional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952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Conteúdo…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um Banco de Dados?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27" y="1574262"/>
            <a:ext cx="3122175" cy="16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0674" y="3443299"/>
            <a:ext cx="2315050" cy="15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8980" y="1467525"/>
            <a:ext cx="2802195" cy="1869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822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Relacionais/SQL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Relacionais/NoSQL (Not OnlySQL)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 a Objetos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Hierárquico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Banco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0674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SGBD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975" y="1748650"/>
            <a:ext cx="12763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1523" y="1760900"/>
            <a:ext cx="1608302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6425" y="1355223"/>
            <a:ext cx="1910775" cy="191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6175" y="3221088"/>
            <a:ext cx="1978362" cy="197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15400" y="3556808"/>
            <a:ext cx="1608300" cy="160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25800" y="1445425"/>
            <a:ext cx="1865800" cy="186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6535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Funcionalidades básicas: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C </a:t>
            </a:r>
            <a:r>
              <a:rPr lang="en-US" sz="31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reate</a:t>
            </a:r>
            <a:endParaRPr sz="31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 </a:t>
            </a:r>
            <a:r>
              <a:rPr lang="en-US" sz="3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ead</a:t>
            </a:r>
            <a:endParaRPr sz="39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U </a:t>
            </a:r>
            <a:r>
              <a:rPr lang="en-US" sz="31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pdate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D </a:t>
            </a:r>
            <a:r>
              <a:rPr lang="en-US" sz="31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elete</a:t>
            </a:r>
            <a:endParaRPr sz="400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SGBD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1829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/>
        </p:nvSpPr>
        <p:spPr>
          <a:xfrm>
            <a:off x="565525" y="14454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sz="400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Estrutura de um BD Relacional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1098725" y="1661625"/>
            <a:ext cx="6785700" cy="303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1069625" y="4746550"/>
            <a:ext cx="216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Banco de Dados |Database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267400" y="1883225"/>
            <a:ext cx="3304500" cy="21432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1267400" y="4114175"/>
            <a:ext cx="141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Tabela | Table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1545725" y="2237238"/>
            <a:ext cx="1209000" cy="10527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1545725" y="3285525"/>
            <a:ext cx="141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Coluna | Column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065600" y="2237238"/>
            <a:ext cx="1209000" cy="10527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1512825" y="1883225"/>
            <a:ext cx="12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Nome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3049100" y="1883225"/>
            <a:ext cx="12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Idade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530275" y="2283425"/>
            <a:ext cx="12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Pâmela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João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3065600" y="2273350"/>
            <a:ext cx="12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0" y="2371650"/>
            <a:ext cx="1209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Tupla | Tuple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Linhas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>
            <a:off x="843225" y="2872600"/>
            <a:ext cx="892200" cy="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Google Shape;151;p19"/>
          <p:cNvSpPr/>
          <p:nvPr/>
        </p:nvSpPr>
        <p:spPr>
          <a:xfrm>
            <a:off x="5985700" y="1883150"/>
            <a:ext cx="1718400" cy="21432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2" name="Google Shape;152;p19"/>
          <p:cNvCxnSpPr>
            <a:stCxn id="140" idx="3"/>
          </p:cNvCxnSpPr>
          <p:nvPr/>
        </p:nvCxnSpPr>
        <p:spPr>
          <a:xfrm rot="10800000" flipH="1">
            <a:off x="4571900" y="2408825"/>
            <a:ext cx="1425600" cy="546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19"/>
          <p:cNvSpPr txBox="1"/>
          <p:nvPr/>
        </p:nvSpPr>
        <p:spPr>
          <a:xfrm>
            <a:off x="4600925" y="1975025"/>
            <a:ext cx="141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Relacionamentos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4546700" y="3026325"/>
            <a:ext cx="141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Chaves Primarias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Chaves Estrangeiras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9"/>
          <p:cNvCxnSpPr/>
          <p:nvPr/>
        </p:nvCxnSpPr>
        <p:spPr>
          <a:xfrm>
            <a:off x="4811375" y="2301100"/>
            <a:ext cx="366600" cy="44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8111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entre tabelas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Linguagem de Consulta Estruturada (SQL)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Integridade referencial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Normalização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Segurança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Flexibilidade e extensibilidade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a transações ACID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Características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620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-US" sz="4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tomicidade</a:t>
            </a:r>
            <a:endParaRPr sz="31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n-US" sz="4000" b="1">
                <a:latin typeface="Century Gothic"/>
                <a:ea typeface="Century Gothic"/>
                <a:cs typeface="Century Gothic"/>
                <a:sym typeface="Century Gothic"/>
              </a:rPr>
              <a:t>onsistência</a:t>
            </a:r>
            <a:endParaRPr sz="3900" b="1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-US" sz="4000" b="1">
                <a:solidFill>
                  <a:srgbClr val="27282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solamento</a:t>
            </a:r>
            <a:endParaRPr sz="4000" b="1">
              <a:solidFill>
                <a:srgbClr val="27282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lang="en-US" sz="4000" b="1">
                <a:solidFill>
                  <a:srgbClr val="040A2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urabilidade</a:t>
            </a:r>
            <a:endParaRPr sz="4000">
              <a:solidFill>
                <a:srgbClr val="040A2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ACID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4185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https://www.oracle.com/br/database/what-is-a-relational-database/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6271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 e Conceitos Básicos de SQL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1805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 - Structured Query Language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700" y="1481050"/>
            <a:ext cx="5783512" cy="335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0228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74180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DQL - Linguagem de Consulta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DML - Linguagem de Manipulação de Dados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INSERT, UPDATE e DELETE;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DDL - Linguagem de Definição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CREATE, ALTER, DROP;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Organização da SQL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9943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65525" y="74180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DCL - Linguagem de Controle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GRANT, REVOKE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DTL - Linguagem de Transação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BEGIN, COMMIT, ROLLBACK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Organização da SQL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7331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3250025" y="885250"/>
            <a:ext cx="5332500" cy="38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nomes devem começar com uma letra ou com um caractere de sublinhado (_)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 Os nomes podem conter letras, números e caracteres de sublinhado (_).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Sensibilidade a maiúsculas e minúsculas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60600" y="2254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Basíca: Nomenclatura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600" y="1528672"/>
            <a:ext cx="2832700" cy="2740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923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https://www.sqltutorial.org/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9801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 e DER: Modelagem de Bancos de Dados	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641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Modelo Entidade-Relacionamento (MER) é representado através de diagramas chamados Diagramas Entidade-Relacionamento (DER).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https://app.creately.com/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 e DER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2198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entidades são nomeadas com substantivos concretos ou abstratos que representem de forma clara sua função dentro do domínio.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Entidades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300" y="2662500"/>
            <a:ext cx="4877802" cy="2252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4130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565525" y="74180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atributos são as características ou propriedades das entidades. Eles descrevem informações específicas sobre uma entidade.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9150" y="2571750"/>
            <a:ext cx="4954700" cy="228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641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Relacionamentos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65525" y="662925"/>
            <a:ext cx="8016900" cy="16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relacionamentos representam as associações entre entidades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900" y="2352225"/>
            <a:ext cx="4915400" cy="2704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2685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565525" y="74180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Cardinalidade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1007500" y="686525"/>
            <a:ext cx="6867000" cy="14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1..1 (um para um)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1..n ou 1..* (um para muitos)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n..n ou *..* (muitos para muitos)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25" y="2625875"/>
            <a:ext cx="3830901" cy="2453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8056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diagramas com IA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1007500" y="686525"/>
            <a:ext cx="6867000" cy="14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https://app.quickdatabasediagrams.com/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4805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https://www.lucidchart.com/pages/pt/o-que-e-diagrama-entidade-relacionamento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https://app.creately.com/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186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Configuração do </a:t>
            </a:r>
            <a:b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Ambiente	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6281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https://app.creately.com/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Diagramas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7685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Acessar a url: </a:t>
            </a: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https://clients.cloudclusters.io/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criar conta.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5275" y="1960900"/>
            <a:ext cx="4341824" cy="27269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573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2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Selecionar opção “New Application”.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2425" y="2133800"/>
            <a:ext cx="3989595" cy="225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7"/>
          <p:cNvCxnSpPr/>
          <p:nvPr/>
        </p:nvCxnSpPr>
        <p:spPr>
          <a:xfrm>
            <a:off x="1590175" y="2422150"/>
            <a:ext cx="133200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68324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0750" y="2032800"/>
            <a:ext cx="4441205" cy="281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3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Buscar MariaDB e selecionar a opção Deploy Now.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8"/>
          <p:cNvCxnSpPr/>
          <p:nvPr/>
        </p:nvCxnSpPr>
        <p:spPr>
          <a:xfrm>
            <a:off x="903700" y="2094275"/>
            <a:ext cx="2612700" cy="39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791000" y="3016425"/>
            <a:ext cx="1813500" cy="154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48531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4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alterar nada e selecionar a opção Free Trial Now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5300" y="2041575"/>
            <a:ext cx="4146524" cy="2767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>
            <a:off x="1170100" y="3631200"/>
            <a:ext cx="1383300" cy="98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60939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5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finalizado o deploy será apresentado a opção “Manage”.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5125" y="2215750"/>
            <a:ext cx="2792945" cy="225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0"/>
          <p:cNvCxnSpPr/>
          <p:nvPr/>
        </p:nvCxnSpPr>
        <p:spPr>
          <a:xfrm>
            <a:off x="1170100" y="3631200"/>
            <a:ext cx="2510400" cy="52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95314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6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Configurar Banco de Dados e Usuários, selecionando a opção DB&amp;User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250" y="2113300"/>
            <a:ext cx="3097625" cy="2856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1"/>
          <p:cNvCxnSpPr/>
          <p:nvPr/>
        </p:nvCxnSpPr>
        <p:spPr>
          <a:xfrm rot="10800000" flipH="1">
            <a:off x="1989775" y="2965125"/>
            <a:ext cx="1239900" cy="45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48762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7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o Banco clicando em “Create Database” adicione o nome “viagens” e seleciona o utf8mb4 em Character Set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6550" y="2164375"/>
            <a:ext cx="4670899" cy="2252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2"/>
          <p:cNvCxnSpPr/>
          <p:nvPr/>
        </p:nvCxnSpPr>
        <p:spPr>
          <a:xfrm>
            <a:off x="1399025" y="3393625"/>
            <a:ext cx="1050300" cy="51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22"/>
          <p:cNvCxnSpPr/>
          <p:nvPr/>
        </p:nvCxnSpPr>
        <p:spPr>
          <a:xfrm flipH="1">
            <a:off x="4236200" y="2776400"/>
            <a:ext cx="4277100" cy="55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22"/>
          <p:cNvCxnSpPr/>
          <p:nvPr/>
        </p:nvCxnSpPr>
        <p:spPr>
          <a:xfrm flipH="1">
            <a:off x="6466800" y="4129950"/>
            <a:ext cx="1970700" cy="3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57586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8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um usuário clicando em “Create User”, adicionando os dados abaixo, e a senha coloque uma de sua opção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0800" y="2279300"/>
            <a:ext cx="3459374" cy="252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0298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PhpMyAdmin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menu esquerdo selecione a opção “phpMyAdmin” e seleciona a opção “Launch”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2925" y="2359300"/>
            <a:ext cx="4311330" cy="225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4"/>
          <p:cNvCxnSpPr/>
          <p:nvPr/>
        </p:nvCxnSpPr>
        <p:spPr>
          <a:xfrm>
            <a:off x="1116225" y="3285350"/>
            <a:ext cx="152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24"/>
          <p:cNvCxnSpPr/>
          <p:nvPr/>
        </p:nvCxnSpPr>
        <p:spPr>
          <a:xfrm flipH="1">
            <a:off x="4106100" y="2180850"/>
            <a:ext cx="671400" cy="77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377145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PhpMyAdmin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/>
        </p:nvSpPr>
        <p:spPr>
          <a:xfrm>
            <a:off x="565525" y="741800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2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Adicione as credenciais do usuário criado no passo 8 e selecione a opção “Executar”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800" y="2154750"/>
            <a:ext cx="2585475" cy="2704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75373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https://clients.cloudclusters.io/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3477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de Dados Relacionais - Tabelas, Colunas e Registros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9693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é usada para armazenar dados de forma organizada. Cada tabela em um banco de dados relacional tem um nome único e é dividida em colunas e linhas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Tabelas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03776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coluna é uma estrutura dentro de uma tabela que representa um atributo específico dos dados armazenados. Cada coluna tem um nome único e um tipo de dados associado que define o tipo de informação que pode ser armazenado nela, como números, textos, datas, etc.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Colunas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47009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registro, também conhecido como linha ou tupla, é uma instância individual de dados em uma tabela.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Registros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6782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TABLE {{nome}}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({{coluna}} {{tipo}} {{opções}} COMMENT {{‘COMENTARIO´}});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CREATE TABLE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30748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dados podem variar muito entre os diversos SGBD, os mais comuns são: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Inteiro (Integer)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Decimal/Numérico (Decimal/Numeric)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Caractere/Varchar (Character/Varchar)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Data/Hora (Date/Time)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Booleano (Boolean)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longo (Text)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Dados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64779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dados podem variar muito entre os diversos SGBD, os mais comuns são: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Inteiro (Integer)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Decimal/Numérico (Decimal/Numeric)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Caractere/Varchar (Character/Varchar)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Data/Hora (Date/Time)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Booleano (Boolean)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 longo (Text)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Dados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279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65525" y="1295100"/>
            <a:ext cx="8016900" cy="3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Restrições de valor: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Chaves primárias e estrangeiras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Incremento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CREATE TABLE - Opções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7830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Mostre-me o código!”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200" b="1" i="1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32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Linus Torvalds </a:t>
            </a:r>
            <a:endParaRPr sz="32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 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53233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INTO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{{ nome-tabela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([ coluna1, coluna2, … ])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*** você pode ocultar as colunas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([ valor-coluna1, valor-coluna2, … ])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INSERT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85583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{{ lista_colunas}}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* retorna todas as colunas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5028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{{ lista_colunas}}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{{condicao}};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 com Where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  <p:pic>
        <p:nvPicPr>
          <p:cNvPr id="177" name="Google Shape;17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09815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(igualdade)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&lt;&gt; ou != (desigualdade)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(maior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(menor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&gt;= (maior ou igual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&lt;= (menor ou igual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(comparação de padrões)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(pertence a uma lista de valores)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(dentro de um intervalo)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(e lógico)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(ou lógico)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 - Operadores</a:t>
            </a:r>
            <a:endParaRPr sz="28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/>
              <a:t>]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22176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Comandos: Update &amp; Delete</a:t>
            </a:r>
            <a:endParaRPr sz="28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1" name="Google Shape;191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1916" y="1149600"/>
            <a:ext cx="4696721" cy="372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8064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 coluna_1 }} = {{ novo_valor_1 }},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 coluna_2 }} = {{ novo_valor_2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{{ condicao }} 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Update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0" name="Google Shape;200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  <p:pic>
        <p:nvPicPr>
          <p:cNvPr id="201" name="Google Shape;20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65743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FROM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{{ condicao }};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Delete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  <p:pic>
        <p:nvPicPr>
          <p:cNvPr id="209" name="Google Shape;20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4969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pic>
        <p:nvPicPr>
          <p:cNvPr id="217" name="Google Shape;21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53058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https://mariadb.com/kb/en/data-types/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https://mariadb.com/kb/en/create-table/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https://clients.cloudclusters.io/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/>
              <a:t>]</a:t>
            </a:r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6123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de Dados Relacionais - Operações CRUD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85063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INTO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{{ nome-tabela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([ coluna1, coluna2, … ])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*** você pode ocultar as colunas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([ valor-coluna1, valor-coluna2, … ])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INSERT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37097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{{ lista_colunas}}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* retorna todas as colunas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1776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{{ lista_colunas}}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{{condicao}};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 com Where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21027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(igualdade)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&lt;&gt; ou != (desigualdade)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(maior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(menor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&gt;= (maior ou igual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&lt;= (menor ou igual que)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(comparação de padrões)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(pertence a uma lista de valores)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(dentro de um intervalo)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(e lógico)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(ou lógico)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SELECT - Operadores</a:t>
            </a:r>
            <a:endParaRPr sz="28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3684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Comandos: Update &amp; Delete</a:t>
            </a:r>
            <a:endParaRPr sz="28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1916" y="1149600"/>
            <a:ext cx="4696721" cy="372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15511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 coluna_1 }} = {{ novo_valor_1 }},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 coluna_2 }} = {{ novo_valor_2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{{ condicao }} 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Update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46477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FROM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{{ condicao }};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Comando: Delete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24197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8448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https://mariadb.com/kb/en/data-types/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https://mariadb.com/kb/en/create-table/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https://clients.cloudclusters.io/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/>
              <a:t>]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41774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de Dados Relacionais - Alterando e Excluindo Tabelas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50594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3550" y="1448800"/>
            <a:ext cx="8016900" cy="24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 com endereços longos não estão conseguindo realizar cadastro no sistema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Opções: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Recriar a tabela, migrar os dados e excluir a tabela anterior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Alterar estrutura da tabela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Problema: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1204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comando DROP TABLE é usado no SQL - para remover uma tabela existente de um banco de dados relacional.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 exclui permanentemente a tabela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 TABLE {{tabela}}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Drop Table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50704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cláusula ALTER TABLE é usada no SQL para modificar a estrutura de uma tabela existente em um banco de dados relacional.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permite: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Adicionar, alterar ou excluir colunas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Modificar as restrições, índices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Renomear a tabela entre outras alterações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Alter Table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70217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96103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https://mariadb.com/kb/en/alter-table/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https://mariadb.com/kb/en/drop-table/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55941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de Dados Relacionais - Chaves Primária e Estrangeiras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58506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3550" y="1448800"/>
            <a:ext cx="8016900" cy="24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 exclusivamente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pode conter valores nulos (NULL)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tabela pode ter apenas uma chave primária.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Primária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5503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TABLE {{tabela}}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ID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AUTOINCREMENT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… 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TABLE {{tabela}}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COLUMN ID INT PRIMARY KEY;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Primária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6"/>
          <p:cNvCxnSpPr/>
          <p:nvPr/>
        </p:nvCxnSpPr>
        <p:spPr>
          <a:xfrm rot="10800000">
            <a:off x="2225550" y="2616725"/>
            <a:ext cx="963000" cy="512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7" name="Google Shape;107;p16"/>
          <p:cNvSpPr txBox="1"/>
          <p:nvPr/>
        </p:nvSpPr>
        <p:spPr>
          <a:xfrm>
            <a:off x="3291025" y="3159875"/>
            <a:ext cx="1209000" cy="40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Constraint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58925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668000" y="1459025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é usada para estabelecer e manter a integridade dos dados entre tabelas relacionadas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ser nula (NOT NULL); </a:t>
            </a:r>
            <a:r>
              <a:rPr lang="en-US" sz="24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** registro órfão</a:t>
            </a:r>
            <a:endParaRPr sz="24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possível ter mais de uma (ou nenhuma) em uma tabela.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Estrangeira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/>
              <a:t>]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93199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TABLE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{{tabela }} (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id INT PRIMARY KEY,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chave_estrangeira INT,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(chave_estrangeira) REFERENCES {{outra tabela }} (id)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Estrangeira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28593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TABLE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 tabela 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CONSTRAINT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{{nome_constraint }}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FOREIGN KEY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(ID_)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{{outra_tabela}} (ID)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Estrangeira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65512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668000" y="1459025"/>
            <a:ext cx="80169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DELETE especifica o que acontece com os registros dependentes quando um registro pai é excluído.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UPDATE define o comportamento dos registros dependentes quando um registro pai é atualizado.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CASCADE, SET NULL, SET DEFAULT e RESTRICT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 Estrangeira - Restrições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39247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Mostre-me o código!”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200" b="1" i="1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32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Linus Torvalds </a:t>
            </a:r>
            <a:endParaRPr sz="32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 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/>
              <a:t>]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72911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97057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https://mariadb.com/kb/en/data-types/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https://mariadb.com/kb/en/create-table/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6020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Normalização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06619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563550" y="1448800"/>
            <a:ext cx="8016900" cy="27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	nome	endereco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	| João	        | Rua A, 123, Cidade X, Estado 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	| Maria	 | Rua B, 456, Cidade Y, Estado 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	| Pedro	 | Avenida C, 789, Cidade X, Estado 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buscar todos os usuário da Cidade X 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630475" y="402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Problema: 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3096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normalização de dados é um processo no qual se organiza e estrutura um banco de dados relacional de forma a eliminar redundâncias e anomalias, garantindo a consistência e integridade dos dados.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Normalização de dados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32363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668000" y="1459025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1FN: Atomicidade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1FN estabelece que cada valor em uma tabela deve ser atômico, ou seja, indivisível. Nenhum campo deve conter múltiplos valores ou listas. No seu caso, o campo "endereco" contém múltiplos valores, como rua, número, cidade e estado. Para atingir a 1FN, precisamos dividir o campo "endereco" em colunas separadas.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Formas Normais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6413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Formas Normais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3825" y="1313500"/>
            <a:ext cx="4829237" cy="352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24548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668000" y="1459025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2FN estabelece que uma tabela deve estar na 1FN 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os atributos não chave devem depender totalmente da chave primária.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Dica se sua tabela tem uma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 primária simples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não existe a possibilidade de termos dependência parcial e por tanto ela já se encontra na 2FN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2FN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6531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668000" y="1459025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tabela deve estar na 2FN 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Nenhuma coluna não-chave depender de outra coluna não-chave.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Nosso exemplo: Relação Estado -&gt; Cidade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3FN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281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657875" y="819900"/>
            <a:ext cx="8016900" cy="31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1FN garante que cada valor seja atômico e que os registros sejam únicos e identificáveis.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2FN garante que os atributos não chave dependam totalmente da chave primária, evitando dependências parciais.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3FN elimina dependências transitivas entre os atributos não chave, garantindo que cada atributo não chave dependa apenas da chave primária, não havendo dependências indiretas entre eles.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39875" y="530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Resumo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26178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6 ao todo, para mais detalhes consultar </a:t>
            </a: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https://pt.wikipedia.org/wiki/Normaliza%C3%A7%C3%A3o_de_dados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Formas Normais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17715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1360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https://pt.wikipedia.org/wiki/Normaliza%C3%A7%C3%A3o_de_dados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554754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75"/>
            <a:ext cx="82428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Consultas Avançadas - Consultas com junções e subconsultas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69721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São usadas no SQL para combinar dados de duas ou mais tabelas relacionadas em uma única consulta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Junções: JOINs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4448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JOIN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JOIN ou LEFT OUTER JOIN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JOIN ou RIGHT OUTER JOIN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JOIN ou FULL OUTER JOIN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Junções: Tipos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38750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 apenas as linhas que têm correspondência em ambas as tabelas envolvidas na junção. A junção é feita com base em uma condição de igualdade especificada na cláusula 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JOIN tabela2 ON tabela1.coluna = tabela2.coluna;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INNER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36415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INNER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8850" y="1354525"/>
            <a:ext cx="3753650" cy="3115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3800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 todas as linhas da tabela à esquerda da junção e as linhas correspondentes da tabela à direita. Se não houver correspondência, os valores da tabela à direita serão NULL.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JOIN tabela2 ON tabela1.coluna = tabela2.coluna;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598794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6175" y="1607925"/>
            <a:ext cx="3071800" cy="2322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847766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 todas as linhas da tabela à direita da junção e as linhas correspondentes da tabela à esquerda. Se não houver correspondência, os valores da tabela à esquerda serão NULL.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JOIN tabela2 ON tabela1.coluna = tabela2.coluna;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492426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163" y="1780400"/>
            <a:ext cx="2710325" cy="190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391884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 todas as linhas de ambas as tabelas envolvidas na junção, combinando-as com base em uma condição de igualdade. Se não houver correspondência, os valores ausentes serão preenchidos com NULL.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tabela1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JOIN tabela2 ON tabela1.coluna = tabela2.coluna;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83072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JOIN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5550" y="1799725"/>
            <a:ext cx="2934925" cy="19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/>
          <p:nvPr/>
        </p:nvSpPr>
        <p:spPr>
          <a:xfrm>
            <a:off x="2497700" y="2164925"/>
            <a:ext cx="284100" cy="39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2609500" y="3331600"/>
            <a:ext cx="284100" cy="47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590425" y="4112775"/>
            <a:ext cx="584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MariaDB não tem comando full join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501244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/>
        </p:nvSpPr>
        <p:spPr>
          <a:xfrm>
            <a:off x="668000" y="1459025"/>
            <a:ext cx="80169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Elas permitem realizar consultas mais complexas permitindo que você use o resultado de uma consulta como entrada para outra consulta.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 Consultas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807781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/>
        </p:nvSpPr>
        <p:spPr>
          <a:xfrm>
            <a:off x="668000" y="402000"/>
            <a:ext cx="8016900" cy="43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subconsultas podem ser usadas em várias partes de uma consulta: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HAVING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539875" y="46900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 Consultas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463337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  <p:pic>
        <p:nvPicPr>
          <p:cNvPr id="196" name="Google Shape;19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647347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https://mariadb.com/kb/en/joins/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  <p:pic>
        <p:nvPicPr>
          <p:cNvPr id="204" name="Google Shape;20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495915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75"/>
            <a:ext cx="82428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Consultas Avançadas - Funções agregadas e Agrupamento de resultados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47060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COUNT: Conta o número de registros.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SUM: Soma os valores de uma coluna numérica.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AVG: Calcula a média dos valores de uma coluna numérica.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MIN: Retorna o valor mínimo de uma coluna.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MAX: Retorna o valor máximo de uma coluna.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Funções Agregadas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821724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Agrupamento de Resultados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05175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{{numero}}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OFFSET {{numero}}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*** opcional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Limite de Resultados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658361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Ordenação de Resultados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113567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Multiplas Colunas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Ordenação de Resultados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0810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05889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https://mariadb.com/kb/en/aggregate-functions/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38542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Introdução aos Bancos de Dados Relacionais</a:t>
            </a:r>
            <a:endParaRPr sz="24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24525" y="1006875"/>
            <a:ext cx="82428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Consultas Avançadas - Índices de Busca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502570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Ela nos permite examinar as operações realizadas, as tabelas acessadas, os índices utilizados e outras informações importantes para identificar possíveis melhorias de desempenho.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Análise do Plano de Execução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/>
              <a:t>]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41499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EXPLAIN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SELECT *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FROM {{TABELA}}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Análise do Plano de Execução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9497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463075" y="552875"/>
            <a:ext cx="8016900" cy="45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select_type:"SIMPLE", "SUBQUERY" , "JOIN"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type: "ALL" , "INDEX" entre outros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possible_keys: Os índices possíveis que podem ser utilizados na operação.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key: O índice utilizado na operação, se aplicável.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key_len: O comprimento do índice utilizado.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ref: As colunas ou constantes usadas para acessar o índice.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65525" y="868625"/>
            <a:ext cx="80169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Análise do Plano de Execução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510805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recursos são fundamentais para melhorar o desempenho das consultas e otimizar a recuperação de informações em bancos de dados.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de Busca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434061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463075" y="1069650"/>
            <a:ext cx="8016900" cy="4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INDEX {{nome_index}}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{{tabela}} ({{coluna1, coluna2…}});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65525" y="8686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de Busca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23692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65525" y="741800"/>
            <a:ext cx="8016900" cy="4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https://github.com/pamelaborges/dio-bd-relacional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91825" y="25387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Scripts produzidos no Hands On	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/>
              <a:t>]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592698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https://mariadb.com/kb/en/alter-table/#add-index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127</a:t>
            </a:fld>
            <a:r>
              <a:rPr lang="en-US"/>
              <a:t>]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350" y="150783"/>
            <a:ext cx="597049" cy="251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36514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967981" y="2574161"/>
            <a:ext cx="6965926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Fórum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Artigos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 </a:t>
            </a:r>
            <a:r>
              <a:rPr lang="en-US" sz="2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https://web.dio.me/article</a:t>
            </a:r>
            <a:r>
              <a:rPr lang="en-US" sz="2400" u="sng" dirty="0">
                <a:solidFill>
                  <a:schemeClr val="hlink"/>
                </a:solidFill>
              </a:rPr>
              <a:t>s</a:t>
            </a:r>
            <a:endParaRPr lang="en-US" sz="2400" b="0" i="0" u="sng" strike="noStrike" cap="none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1097377" y="1284651"/>
            <a:ext cx="6833892" cy="94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128</a:t>
            </a:fld>
            <a:r>
              <a:rPr lang="en-US"/>
              <a:t>]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94292" y="161566"/>
            <a:ext cx="651673" cy="271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709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7" ma:contentTypeDescription="Create a new document." ma:contentTypeScope="" ma:versionID="95cfa1b356ebc00e7ae0651ac289c61a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e4c6b8551cacebbb625ac86333d8910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A5D25A-D767-4561-ACC1-4B035E20079A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6C668956-8803-476B-8D60-ECB77B828C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6CEF82-58AA-421A-B736-A94A7C337B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3894</Words>
  <Application>Microsoft Office PowerPoint</Application>
  <PresentationFormat>Apresentação na tela (16:9)</PresentationFormat>
  <Paragraphs>723</Paragraphs>
  <Slides>128</Slides>
  <Notes>128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128</vt:i4>
      </vt:variant>
    </vt:vector>
  </HeadingPairs>
  <TitlesOfParts>
    <vt:vector size="12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renato.local</dc:creator>
  <cp:lastModifiedBy>Renato Seabra</cp:lastModifiedBy>
  <cp:revision>2</cp:revision>
  <dcterms:modified xsi:type="dcterms:W3CDTF">2024-06-22T12:57:19Z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